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notesMasterIdLst>
    <p:notesMasterId r:id="rId19"/>
  </p:notesMasterIdLst>
  <p:sldIdLst>
    <p:sldId id="256" r:id="rId2"/>
    <p:sldId id="257" r:id="rId3"/>
    <p:sldId id="269" r:id="rId4"/>
    <p:sldId id="283" r:id="rId5"/>
    <p:sldId id="286" r:id="rId6"/>
    <p:sldId id="293" r:id="rId7"/>
    <p:sldId id="284" r:id="rId8"/>
    <p:sldId id="262" r:id="rId9"/>
    <p:sldId id="261" r:id="rId10"/>
    <p:sldId id="281" r:id="rId11"/>
    <p:sldId id="289" r:id="rId12"/>
    <p:sldId id="291" r:id="rId13"/>
    <p:sldId id="290" r:id="rId14"/>
    <p:sldId id="294" r:id="rId15"/>
    <p:sldId id="282" r:id="rId16"/>
    <p:sldId id="292" r:id="rId17"/>
    <p:sldId id="28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jral, Nishit" initials="GN" lastIdx="1" clrIdx="0">
    <p:extLst>
      <p:ext uri="{19B8F6BF-5375-455C-9EA6-DF929625EA0E}">
        <p15:presenceInfo xmlns:p15="http://schemas.microsoft.com/office/powerpoint/2012/main" userId="S-1-5-21-725345543-602162358-527237240-1938292" providerId="AD"/>
      </p:ext>
    </p:extLst>
  </p:cmAuthor>
  <p:cmAuthor id="2" name="Vimmi Taneja" initials="VT" lastIdx="3" clrIdx="1">
    <p:extLst>
      <p:ext uri="{19B8F6BF-5375-455C-9EA6-DF929625EA0E}">
        <p15:presenceInfo xmlns:p15="http://schemas.microsoft.com/office/powerpoint/2012/main" userId="1c10b337bfa646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6442B-9CE7-4858-9121-FD352A89BAC1}" type="datetimeFigureOut">
              <a:rPr lang="en-US" smtClean="0"/>
              <a:t>12/1/2016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437EB-9E13-4949-B2EE-36B0F805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9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437EB-9E13-4949-B2EE-36B0F805BB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39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230" y="152174"/>
            <a:ext cx="10782300" cy="3752005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426472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95398" y="6236413"/>
            <a:ext cx="680132" cy="546884"/>
          </a:xfrm>
        </p:spPr>
        <p:txBody>
          <a:bodyPr/>
          <a:lstStyle>
            <a:lvl1pPr>
              <a:defRPr sz="2000"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10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6381"/>
            <a:ext cx="10772775" cy="12284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234848"/>
            <a:ext cx="10753725" cy="5035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139" y="6412447"/>
            <a:ext cx="651674" cy="370850"/>
          </a:xfrm>
        </p:spPr>
        <p:txBody>
          <a:bodyPr/>
          <a:lstStyle>
            <a:lvl1pPr>
              <a:defRPr sz="20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9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843" y="17406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843" y="4329713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72799" y="6412447"/>
            <a:ext cx="493161" cy="445553"/>
          </a:xfrm>
        </p:spPr>
        <p:txBody>
          <a:bodyPr/>
          <a:lstStyle>
            <a:lvl1pPr>
              <a:defRPr sz="20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52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3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20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86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7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2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810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4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2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606" y="0"/>
            <a:ext cx="10772775" cy="1234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1234848"/>
            <a:ext cx="10753725" cy="503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9784" y="6318607"/>
            <a:ext cx="493160" cy="4646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0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7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230" y="152174"/>
            <a:ext cx="10782300" cy="2871581"/>
          </a:xfrm>
        </p:spPr>
        <p:txBody>
          <a:bodyPr/>
          <a:lstStyle/>
          <a:p>
            <a:r>
              <a:rPr lang="en-US" sz="7200" dirty="0"/>
              <a:t>Static Code Analysis Tool - </a:t>
            </a:r>
            <a:r>
              <a:rPr lang="en-US" sz="7200" dirty="0" err="1"/>
              <a:t>Cppcheck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altLang="ko-KR" dirty="0"/>
              <a:t>Project for CS5393 (Fall 2016)</a:t>
            </a:r>
          </a:p>
          <a:p>
            <a:pPr algn="l"/>
            <a:endParaRPr lang="ko-KR" altLang="en-US" dirty="0"/>
          </a:p>
          <a:p>
            <a:pPr algn="l"/>
            <a:r>
              <a:rPr lang="en-US" dirty="0"/>
              <a:t>Presenter: Vimmi Taneja</a:t>
            </a:r>
          </a:p>
        </p:txBody>
      </p:sp>
    </p:spTree>
    <p:extLst>
      <p:ext uri="{BB962C8B-B14F-4D97-AF65-F5344CB8AC3E}">
        <p14:creationId xmlns:p14="http://schemas.microsoft.com/office/powerpoint/2010/main" val="82017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Static code analysis</a:t>
            </a:r>
          </a:p>
          <a:p>
            <a:r>
              <a:rPr lang="en-US" altLang="ko-KR" dirty="0"/>
              <a:t>Introduction to </a:t>
            </a:r>
            <a:r>
              <a:rPr lang="en-US" altLang="ko-KR" dirty="0" err="1"/>
              <a:t>Cppcheck</a:t>
            </a:r>
            <a:endParaRPr lang="en-US" altLang="ko-KR" dirty="0"/>
          </a:p>
          <a:p>
            <a:r>
              <a:rPr lang="en-US" altLang="ko-KR" dirty="0"/>
              <a:t>Features of </a:t>
            </a:r>
            <a:r>
              <a:rPr lang="en-US" altLang="ko-KR" dirty="0" err="1"/>
              <a:t>Cppcheck</a:t>
            </a:r>
            <a:endParaRPr lang="en-US" altLang="ko-KR" dirty="0"/>
          </a:p>
          <a:p>
            <a:r>
              <a:rPr lang="en-US" altLang="ko-KR" dirty="0"/>
              <a:t>Programs</a:t>
            </a:r>
          </a:p>
          <a:p>
            <a:r>
              <a:rPr lang="en-US" altLang="ko-KR" dirty="0"/>
              <a:t>Strengths</a:t>
            </a:r>
          </a:p>
          <a:p>
            <a:r>
              <a:rPr lang="en-US" altLang="ko-KR" dirty="0"/>
              <a:t>Weaknesses</a:t>
            </a:r>
          </a:p>
          <a:p>
            <a:r>
              <a:rPr lang="en-US" altLang="ko-KR" dirty="0"/>
              <a:t>Q&amp;A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98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Process of examining the code without executing 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Goal</a:t>
            </a:r>
            <a:r>
              <a:rPr lang="en-US" dirty="0"/>
              <a:t>: Provide confidence that code is correct without executing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Done as part of Code 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Commercial tools  </a:t>
            </a:r>
          </a:p>
          <a:p>
            <a:pPr marL="0" indent="0">
              <a:buNone/>
            </a:pPr>
            <a:r>
              <a:rPr lang="en-US" dirty="0"/>
              <a:t>	PC-Lint </a:t>
            </a:r>
          </a:p>
          <a:p>
            <a:pPr marL="0" lvl="2" indent="0">
              <a:buNone/>
            </a:pPr>
            <a:r>
              <a:rPr lang="en-US" sz="2400" i="0" dirty="0"/>
              <a:t>	</a:t>
            </a:r>
            <a:r>
              <a:rPr lang="en-US" sz="2400" i="0" dirty="0" err="1"/>
              <a:t>Coverity</a:t>
            </a:r>
            <a:endParaRPr lang="en-US" i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Free tools  </a:t>
            </a:r>
          </a:p>
          <a:p>
            <a:pPr marL="4572" lvl="1" indent="0">
              <a:buNone/>
            </a:pPr>
            <a:r>
              <a:rPr lang="en-US" dirty="0"/>
              <a:t>	Clang </a:t>
            </a:r>
          </a:p>
          <a:p>
            <a:pPr marL="4572" lvl="1" indent="0">
              <a:buNone/>
            </a:pPr>
            <a:r>
              <a:rPr lang="en-US" dirty="0"/>
              <a:t>	</a:t>
            </a:r>
            <a:r>
              <a:rPr lang="en-US" dirty="0" err="1"/>
              <a:t>Cppcheck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52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Cppcheck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450752"/>
            <a:ext cx="10058400" cy="51786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Static analysis tool for C/C++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Open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Detects the types of bugs that the compilers normally fail to detect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Works by dividing the code into tokens to which it applies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Console and GUI 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Integrated into Code::Blocks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Can be integrated as a plugin for Eclipse, Hudson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Has found 100 bugs in various projects</a:t>
            </a:r>
          </a:p>
        </p:txBody>
      </p:sp>
    </p:spTree>
    <p:extLst>
      <p:ext uri="{BB962C8B-B14F-4D97-AF65-F5344CB8AC3E}">
        <p14:creationId xmlns:p14="http://schemas.microsoft.com/office/powerpoint/2010/main" val="63524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CppCheck</a:t>
            </a:r>
            <a:r>
              <a:rPr lang="en-US" dirty="0"/>
              <a:t> Features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7224" y="1463886"/>
            <a:ext cx="7336706" cy="377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/>
              <a:t>Out of bounds checking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Memory leaks checking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Detect possible null pointer dereferences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Check for uninitialized variables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Check for invalid usage of STL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Checking exception safety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Warn if obsolete functions are used</a:t>
            </a:r>
          </a:p>
          <a:p>
            <a:pPr marR="0" lvl="0" fontAlgn="base"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dirty="0"/>
              <a:t> And dozens more…</a:t>
            </a:r>
          </a:p>
        </p:txBody>
      </p:sp>
    </p:spTree>
    <p:extLst>
      <p:ext uri="{BB962C8B-B14F-4D97-AF65-F5344CB8AC3E}">
        <p14:creationId xmlns:p14="http://schemas.microsoft.com/office/powerpoint/2010/main" val="356509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Memory leak </a:t>
            </a:r>
            <a:r>
              <a:rPr lang="en-US" dirty="0"/>
              <a:t>– Occurs when piece of memory that was previously allocated is not deallocated by the programmer.</a:t>
            </a:r>
          </a:p>
          <a:p>
            <a:r>
              <a:rPr lang="en-US" dirty="0"/>
              <a:t>Can slow down the program or even crash.</a:t>
            </a:r>
          </a:p>
          <a:p>
            <a:r>
              <a:rPr lang="en-US" dirty="0"/>
              <a:t> </a:t>
            </a:r>
            <a:r>
              <a:rPr lang="en-US" b="1" dirty="0"/>
              <a:t>Buffer overflow </a:t>
            </a:r>
            <a:r>
              <a:rPr lang="en-US" dirty="0"/>
              <a:t>- </a:t>
            </a:r>
            <a:r>
              <a:rPr lang="en-US" dirty="0"/>
              <a:t>vulnerability which arises when a program attempt to put more data in a buffer than it can hold</a:t>
            </a:r>
          </a:p>
          <a:p>
            <a:r>
              <a:rPr lang="en-US" dirty="0"/>
              <a:t>Can lead to program crashes or it may enter infinite loops</a:t>
            </a:r>
          </a:p>
          <a:p>
            <a:r>
              <a:rPr lang="en-US" dirty="0"/>
              <a:t>Code red worm – loss of 2.62 billion USD worldwide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5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7" y="2129482"/>
            <a:ext cx="5451627" cy="24123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5" y="1609724"/>
            <a:ext cx="5142271" cy="4752975"/>
          </a:xfrm>
        </p:spPr>
        <p:txBody>
          <a:bodyPr>
            <a:normAutofit/>
          </a:bodyPr>
          <a:lstStyle/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void foo(char* </a:t>
            </a:r>
            <a:r>
              <a:rPr lang="en-US" sz="1600" dirty="0" err="1"/>
              <a:t>str</a:t>
            </a:r>
            <a:r>
              <a:rPr lang="en-US" sz="1600" dirty="0"/>
              <a:t>)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{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char* </a:t>
            </a:r>
            <a:r>
              <a:rPr lang="en-US" sz="1600" dirty="0" err="1"/>
              <a:t>buf</a:t>
            </a:r>
            <a:r>
              <a:rPr lang="en-US" sz="1600" dirty="0"/>
              <a:t> = new char[8];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</a:t>
            </a:r>
            <a:r>
              <a:rPr lang="en-US" sz="1600" dirty="0" err="1"/>
              <a:t>strcpy</a:t>
            </a:r>
            <a:r>
              <a:rPr lang="en-US" sz="1600" dirty="0"/>
              <a:t>(</a:t>
            </a:r>
            <a:r>
              <a:rPr lang="en-US" sz="1600" dirty="0" err="1"/>
              <a:t>buf</a:t>
            </a:r>
            <a:r>
              <a:rPr lang="en-US" sz="1600" dirty="0"/>
              <a:t>, </a:t>
            </a:r>
            <a:r>
              <a:rPr lang="en-US" sz="1600" dirty="0" err="1"/>
              <a:t>str</a:t>
            </a:r>
            <a:r>
              <a:rPr lang="en-US" sz="1600" dirty="0"/>
              <a:t>);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FILE* file = </a:t>
            </a:r>
            <a:r>
              <a:rPr lang="en-US" sz="1600" dirty="0" err="1"/>
              <a:t>fopen</a:t>
            </a:r>
            <a:r>
              <a:rPr lang="en-US" sz="1600" dirty="0"/>
              <a:t>("out.txt", "w");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if(!file)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  return;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	 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	 for(char* c = </a:t>
            </a:r>
            <a:r>
              <a:rPr lang="en-US" sz="1600" dirty="0" err="1"/>
              <a:t>buf</a:t>
            </a:r>
            <a:r>
              <a:rPr lang="en-US" sz="1600" dirty="0"/>
              <a:t>; *c; ++c)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		 </a:t>
            </a:r>
            <a:r>
              <a:rPr lang="en-US" sz="1600" dirty="0" err="1"/>
              <a:t>fputc</a:t>
            </a:r>
            <a:r>
              <a:rPr lang="en-US" sz="1600" dirty="0"/>
              <a:t>((</a:t>
            </a:r>
            <a:r>
              <a:rPr lang="en-US" sz="1600" dirty="0" err="1"/>
              <a:t>int</a:t>
            </a:r>
            <a:r>
              <a:rPr lang="en-US" sz="1600" dirty="0"/>
              <a:t>)*c. file);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	 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	 delete </a:t>
            </a:r>
            <a:r>
              <a:rPr lang="en-US" sz="1600" dirty="0" err="1"/>
              <a:t>buf</a:t>
            </a:r>
            <a:r>
              <a:rPr lang="en-US" sz="1600" dirty="0"/>
              <a:t>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}</a:t>
            </a:r>
          </a:p>
          <a:p>
            <a:pPr marL="0" indent="0">
              <a:lnSpc>
                <a:spcPct val="65000"/>
              </a:lnSpc>
              <a:buNone/>
            </a:pPr>
            <a:endParaRPr lang="en-US" sz="1600" dirty="0"/>
          </a:p>
          <a:p>
            <a:pPr>
              <a:lnSpc>
                <a:spcPct val="65000"/>
              </a:lnSpc>
            </a:pP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952500" y="3838575"/>
            <a:ext cx="86677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24000" y="5429250"/>
            <a:ext cx="1323975" cy="35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307892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60"/>
          <p:cNvSpPr>
            <a:spLocks noGrp="1"/>
          </p:cNvSpPr>
          <p:nvPr>
            <p:ph idx="1"/>
          </p:nvPr>
        </p:nvSpPr>
        <p:spPr>
          <a:xfrm>
            <a:off x="835435" y="1409700"/>
            <a:ext cx="9956390" cy="4800600"/>
          </a:xfrm>
        </p:spPr>
        <p:txBody>
          <a:bodyPr>
            <a:noAutofit/>
          </a:bodyPr>
          <a:lstStyle/>
          <a:p>
            <a:pPr>
              <a:lnSpc>
                <a:spcPct val="65000"/>
              </a:lnSpc>
            </a:pPr>
            <a:r>
              <a:rPr lang="en-US" sz="1400" dirty="0"/>
              <a:t>void </a:t>
            </a:r>
            <a:r>
              <a:rPr lang="en-US" sz="1400" dirty="0" err="1"/>
              <a:t>memLeak</a:t>
            </a:r>
            <a:r>
              <a:rPr lang="en-US" sz="1400" dirty="0"/>
              <a:t>( )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{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 </a:t>
            </a:r>
            <a:r>
              <a:rPr lang="en-US" sz="1400" dirty="0" err="1"/>
              <a:t>int</a:t>
            </a:r>
            <a:r>
              <a:rPr lang="en-US" sz="1400" dirty="0"/>
              <a:t> * p = new </a:t>
            </a:r>
            <a:r>
              <a:rPr lang="en-US" sz="1400" dirty="0" err="1"/>
              <a:t>int</a:t>
            </a:r>
            <a:r>
              <a:rPr lang="en-US" sz="1400" dirty="0"/>
              <a:t>;  // unused allocated memory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delete p;</a:t>
            </a:r>
          </a:p>
          <a:p>
            <a:pPr>
              <a:lnSpc>
                <a:spcPct val="65000"/>
              </a:lnSpc>
            </a:pPr>
            <a:endParaRPr lang="en-US" sz="1400" dirty="0"/>
          </a:p>
          <a:p>
            <a:pPr>
              <a:lnSpc>
                <a:spcPct val="65000"/>
              </a:lnSpc>
            </a:pPr>
            <a:r>
              <a:rPr lang="en-US" sz="1400" dirty="0"/>
              <a:t>    // Memory leak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</a:t>
            </a:r>
            <a:r>
              <a:rPr lang="en-US" sz="1400" dirty="0" err="1"/>
              <a:t>int</a:t>
            </a:r>
            <a:r>
              <a:rPr lang="en-US" sz="1400" dirty="0"/>
              <a:t> * q = new </a:t>
            </a:r>
            <a:r>
              <a:rPr lang="en-US" sz="1400" dirty="0" err="1"/>
              <a:t>int</a:t>
            </a:r>
            <a:r>
              <a:rPr lang="en-US" sz="1400" dirty="0"/>
              <a:t>;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*q = 15;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  // no delete .. memory leak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delete p;  // double free</a:t>
            </a:r>
          </a:p>
          <a:p>
            <a:pPr>
              <a:lnSpc>
                <a:spcPct val="65000"/>
              </a:lnSpc>
            </a:pPr>
            <a:endParaRPr lang="en-US" sz="1400" dirty="0"/>
          </a:p>
          <a:p>
            <a:pPr>
              <a:lnSpc>
                <a:spcPct val="65000"/>
              </a:lnSpc>
            </a:pPr>
            <a:r>
              <a:rPr lang="en-US" sz="1400" dirty="0"/>
              <a:t>    </a:t>
            </a:r>
            <a:r>
              <a:rPr lang="en-US" sz="1400" dirty="0" err="1"/>
              <a:t>int</a:t>
            </a:r>
            <a:r>
              <a:rPr lang="en-US" sz="1400" dirty="0"/>
              <a:t> *</a:t>
            </a:r>
            <a:r>
              <a:rPr lang="en-US" sz="1400" dirty="0" err="1"/>
              <a:t>sortArray</a:t>
            </a:r>
            <a:r>
              <a:rPr lang="en-US" sz="1400" dirty="0"/>
              <a:t>;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</a:t>
            </a:r>
            <a:r>
              <a:rPr lang="en-US" sz="1400" dirty="0" err="1"/>
              <a:t>sortArray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[5];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// mismatch allocation and deallocation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   delete </a:t>
            </a:r>
            <a:r>
              <a:rPr lang="en-US" sz="1400" dirty="0" err="1"/>
              <a:t>sortArray</a:t>
            </a:r>
            <a:r>
              <a:rPr lang="en-US" sz="1400" dirty="0"/>
              <a:t>; // should be delete[]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}</a:t>
            </a: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879" y="1409700"/>
            <a:ext cx="6043184" cy="291871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23950" y="4048125"/>
            <a:ext cx="752475" cy="369332"/>
          </a:xfrm>
          <a:prstGeom prst="rect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1123949" y="5496416"/>
            <a:ext cx="1276351" cy="369332"/>
          </a:xfrm>
          <a:prstGeom prst="rect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7224" y="6381"/>
            <a:ext cx="10772775" cy="1228467"/>
          </a:xfrm>
        </p:spPr>
        <p:txBody>
          <a:bodyPr/>
          <a:lstStyle/>
          <a:p>
            <a:r>
              <a:rPr lang="en-US" dirty="0"/>
              <a:t>Memory Leak</a:t>
            </a:r>
          </a:p>
        </p:txBody>
      </p:sp>
    </p:spTree>
    <p:extLst>
      <p:ext uri="{BB962C8B-B14F-4D97-AF65-F5344CB8AC3E}">
        <p14:creationId xmlns:p14="http://schemas.microsoft.com/office/powerpoint/2010/main" val="149221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476456"/>
            <a:ext cx="10058400" cy="48100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Void </a:t>
            </a:r>
            <a:r>
              <a:rPr lang="en-US" dirty="0" err="1"/>
              <a:t>bufferOverflow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char </a:t>
            </a:r>
            <a:r>
              <a:rPr lang="en-US" dirty="0" err="1"/>
              <a:t>buf</a:t>
            </a:r>
            <a:r>
              <a:rPr lang="en-US" dirty="0"/>
              <a:t>[8];</a:t>
            </a:r>
          </a:p>
          <a:p>
            <a:r>
              <a:rPr lang="en-US" dirty="0"/>
              <a:t>    </a:t>
            </a:r>
            <a:r>
              <a:rPr lang="en-US" dirty="0" err="1"/>
              <a:t>strcpy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“Buffer overflow”);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void </a:t>
            </a:r>
            <a:r>
              <a:rPr lang="en-US" dirty="0" err="1"/>
              <a:t>memsetCheck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char </a:t>
            </a:r>
            <a:r>
              <a:rPr lang="en-US" dirty="0" err="1"/>
              <a:t>str</a:t>
            </a:r>
            <a:r>
              <a:rPr lang="en-US" dirty="0"/>
              <a:t>[] = "almost every programmer should know </a:t>
            </a:r>
            <a:r>
              <a:rPr lang="en-US" dirty="0" err="1"/>
              <a:t>memset</a:t>
            </a:r>
            <a:r>
              <a:rPr lang="en-US" dirty="0"/>
              <a:t>!";</a:t>
            </a:r>
          </a:p>
          <a:p>
            <a:r>
              <a:rPr lang="en-US" dirty="0"/>
              <a:t>  </a:t>
            </a:r>
            <a:r>
              <a:rPr lang="en-US" dirty="0" err="1"/>
              <a:t>memset</a:t>
            </a:r>
            <a:r>
              <a:rPr lang="en-US" dirty="0"/>
              <a:t> (str,'-',49);  // buffer access out of bounds</a:t>
            </a:r>
          </a:p>
          <a:p>
            <a:r>
              <a:rPr lang="en-US" dirty="0"/>
              <a:t>  puts 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869" y="2793023"/>
            <a:ext cx="3868616" cy="378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30519" y="4993298"/>
            <a:ext cx="2441331" cy="3692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4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999845"/>
            <a:ext cx="6912217" cy="286857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void </a:t>
            </a:r>
            <a:r>
              <a:rPr lang="en-US" sz="2000" dirty="0" err="1"/>
              <a:t>danglingPointer</a:t>
            </a:r>
            <a:r>
              <a:rPr lang="en-US" sz="2000" dirty="0"/>
              <a:t>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* x = new </a:t>
            </a:r>
            <a:r>
              <a:rPr lang="en-US" sz="2000" dirty="0" err="1"/>
              <a:t>int</a:t>
            </a:r>
            <a:r>
              <a:rPr lang="en-US" sz="2000" dirty="0"/>
              <a:t>[5];</a:t>
            </a:r>
          </a:p>
          <a:p>
            <a:r>
              <a:rPr lang="en-US" sz="2000" dirty="0"/>
              <a:t>  delete[] x;</a:t>
            </a:r>
          </a:p>
          <a:p>
            <a:r>
              <a:rPr lang="en-US" sz="2000" dirty="0"/>
              <a:t>  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 y = x[2];    // Dereferencing 'x' after it is deallocated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8010525" y="4057650"/>
            <a:ext cx="1390650" cy="390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57224" y="6381"/>
            <a:ext cx="10772775" cy="1228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Dangling Pointer</a:t>
            </a:r>
          </a:p>
        </p:txBody>
      </p:sp>
    </p:spTree>
    <p:extLst>
      <p:ext uri="{BB962C8B-B14F-4D97-AF65-F5344CB8AC3E}">
        <p14:creationId xmlns:p14="http://schemas.microsoft.com/office/powerpoint/2010/main" val="90895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testDivide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a , </a:t>
            </a:r>
            <a:r>
              <a:rPr lang="en-US" dirty="0" err="1"/>
              <a:t>int</a:t>
            </a:r>
            <a:r>
              <a:rPr lang="en-US" dirty="0"/>
              <a:t> b)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a/b;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char a[2];</a:t>
            </a:r>
          </a:p>
          <a:p>
            <a:r>
              <a:rPr lang="en-US" dirty="0"/>
              <a:t>  a[2] = 'c';   // array index out of bounds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b = -1;</a:t>
            </a:r>
          </a:p>
          <a:p>
            <a:r>
              <a:rPr lang="en-US" dirty="0"/>
              <a:t>  </a:t>
            </a:r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err="1"/>
              <a:t>cout</a:t>
            </a:r>
            <a:r>
              <a:rPr lang="en-US" dirty="0"/>
              <a:t> &lt;&lt; a[b];    // negative index</a:t>
            </a:r>
          </a:p>
          <a:p>
            <a:r>
              <a:rPr lang="en-US" dirty="0"/>
              <a:t>    // division by zero</a:t>
            </a:r>
          </a:p>
          <a:p>
            <a:r>
              <a:rPr lang="en-US" dirty="0"/>
              <a:t>  </a:t>
            </a:r>
            <a:r>
              <a:rPr lang="en-US" dirty="0" err="1"/>
              <a:t>testDivide</a:t>
            </a:r>
            <a:r>
              <a:rPr lang="en-US" dirty="0"/>
              <a:t>(3, 0);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518" y="1837244"/>
            <a:ext cx="6020322" cy="2682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837244"/>
            <a:ext cx="1076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00100" y="3447178"/>
            <a:ext cx="1076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66775" y="4489355"/>
            <a:ext cx="16750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33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904802"/>
            <a:ext cx="6912217" cy="30586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929217"/>
          </a:xfrm>
        </p:spPr>
        <p:txBody>
          <a:bodyPr>
            <a:normAutofit/>
          </a:bodyPr>
          <a:lstStyle/>
          <a:p>
            <a:r>
              <a:rPr lang="en-US" sz="4400" dirty="0"/>
              <a:t>Other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6310" y="1428750"/>
            <a:ext cx="3706761" cy="4447662"/>
          </a:xfrm>
        </p:spPr>
        <p:txBody>
          <a:bodyPr>
            <a:normAutofit/>
          </a:bodyPr>
          <a:lstStyle/>
          <a:p>
            <a:pPr>
              <a:lnSpc>
                <a:spcPct val="65000"/>
              </a:lnSpc>
            </a:pPr>
            <a:r>
              <a:rPr lang="en-US" sz="1400" dirty="0"/>
              <a:t> </a:t>
            </a:r>
            <a:r>
              <a:rPr lang="en-US" sz="1600" dirty="0" err="1"/>
              <a:t>int</a:t>
            </a:r>
            <a:r>
              <a:rPr lang="en-US" sz="1600" dirty="0"/>
              <a:t> main()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{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   </a:t>
            </a:r>
            <a:r>
              <a:rPr lang="en-US" sz="1600" dirty="0" err="1"/>
              <a:t>int</a:t>
            </a:r>
            <a:r>
              <a:rPr lang="en-US" sz="1600" dirty="0"/>
              <a:t> *pi, f;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    pi = NULL;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    f = *pi;   //  NULL pointer dereference</a:t>
            </a:r>
          </a:p>
          <a:p>
            <a:pPr>
              <a:lnSpc>
                <a:spcPct val="65000"/>
              </a:lnSpc>
            </a:pPr>
            <a:endParaRPr lang="en-US" sz="1600" dirty="0"/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  unsigned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uitest</a:t>
            </a:r>
            <a:r>
              <a:rPr lang="en-US" sz="1600" dirty="0"/>
              <a:t> = 123456;</a:t>
            </a:r>
          </a:p>
          <a:p>
            <a:pPr marL="0" indent="0">
              <a:lnSpc>
                <a:spcPct val="65000"/>
              </a:lnSpc>
              <a:buNone/>
            </a:pPr>
            <a:r>
              <a:rPr lang="en-US" sz="1600" dirty="0"/>
              <a:t>     </a:t>
            </a:r>
            <a:r>
              <a:rPr lang="en-US" sz="1600" dirty="0" err="1"/>
              <a:t>printf</a:t>
            </a:r>
            <a:r>
              <a:rPr lang="en-US" sz="1600" dirty="0"/>
              <a:t>("%d", </a:t>
            </a:r>
            <a:r>
              <a:rPr lang="en-US" sz="1600" dirty="0" err="1"/>
              <a:t>uitest</a:t>
            </a:r>
            <a:r>
              <a:rPr lang="en-US" sz="1600" dirty="0"/>
              <a:t>);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   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    return 0;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c = b;   // unreachable code.</a:t>
            </a:r>
          </a:p>
          <a:p>
            <a:pPr>
              <a:lnSpc>
                <a:spcPct val="65000"/>
              </a:lnSpc>
            </a:pPr>
            <a:r>
              <a:rPr lang="en-US" sz="1600" dirty="0"/>
              <a:t> }</a:t>
            </a:r>
          </a:p>
          <a:p>
            <a:pPr>
              <a:lnSpc>
                <a:spcPct val="65000"/>
              </a:lnSpc>
            </a:pPr>
            <a:r>
              <a:rPr lang="en-US" sz="1400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1975" y="2581275"/>
            <a:ext cx="6096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162925" y="4594126"/>
            <a:ext cx="762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077201" y="3652581"/>
            <a:ext cx="1771650" cy="3669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3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5 open source projects checked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Type of errors – Null pointer dereference, array index out of bounds, memory leak, resource leak.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86674"/>
              </p:ext>
            </p:extLst>
          </p:nvPr>
        </p:nvGraphicFramePr>
        <p:xfrm>
          <a:off x="1133475" y="2628900"/>
          <a:ext cx="7753350" cy="3276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7192">
                  <a:extLst>
                    <a:ext uri="{9D8B030D-6E8A-4147-A177-3AD203B41FA5}">
                      <a16:colId xmlns:a16="http://schemas.microsoft.com/office/drawing/2014/main" val="2707305898"/>
                    </a:ext>
                  </a:extLst>
                </a:gridCol>
                <a:gridCol w="1461910">
                  <a:extLst>
                    <a:ext uri="{9D8B030D-6E8A-4147-A177-3AD203B41FA5}">
                      <a16:colId xmlns:a16="http://schemas.microsoft.com/office/drawing/2014/main" val="3641498158"/>
                    </a:ext>
                  </a:extLst>
                </a:gridCol>
                <a:gridCol w="1178480">
                  <a:extLst>
                    <a:ext uri="{9D8B030D-6E8A-4147-A177-3AD203B41FA5}">
                      <a16:colId xmlns:a16="http://schemas.microsoft.com/office/drawing/2014/main" val="743694268"/>
                    </a:ext>
                  </a:extLst>
                </a:gridCol>
                <a:gridCol w="1624138">
                  <a:extLst>
                    <a:ext uri="{9D8B030D-6E8A-4147-A177-3AD203B41FA5}">
                      <a16:colId xmlns:a16="http://schemas.microsoft.com/office/drawing/2014/main" val="2181650280"/>
                    </a:ext>
                  </a:extLst>
                </a:gridCol>
                <a:gridCol w="1851630">
                  <a:extLst>
                    <a:ext uri="{9D8B030D-6E8A-4147-A177-3AD203B41FA5}">
                      <a16:colId xmlns:a16="http://schemas.microsoft.com/office/drawing/2014/main" val="708899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Project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Files checked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Warnings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Duration(s)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952619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dirty="0">
                          <a:effectLst/>
                        </a:rPr>
                        <a:t>Synergy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dirty="0">
                          <a:effectLst/>
                        </a:rPr>
                        <a:t>262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6987107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Wild magic 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648637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Eigen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122207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OpenDDS</a:t>
                      </a:r>
                      <a:endParaRPr lang="en-US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15211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Mplayer</a:t>
                      </a:r>
                      <a:endParaRPr lang="en-US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0" eaLnBrk="1" latinLnBrk="0" hangingPunct="1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754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846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Cppcheck</a:t>
            </a:r>
            <a:r>
              <a:rPr lang="en-US" dirty="0"/>
              <a:t>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49" y="1279503"/>
            <a:ext cx="9934575" cy="54568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699" y="1279503"/>
            <a:ext cx="9914141" cy="545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20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234849"/>
            <a:ext cx="10753725" cy="2639568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 Plugins and integrations for several IDE: Eclipse, Hudson, Jenkins, Visual Studio.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 Keep on updating every month.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 Easily applicable to any file and ability to scan all files even outside the build.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 Available in many world languages, including English, Dutch, Finnish, Swedish, German, Russian, Serbian and Japanese.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 Easy to use, install and clear messages.</a:t>
            </a:r>
          </a:p>
          <a:p>
            <a:pPr fontAlgn="t" latinLnBrk="1"/>
            <a:endParaRPr lang="en-US" dirty="0"/>
          </a:p>
          <a:p>
            <a:pPr fontAlgn="ctr" latinLnBrk="1"/>
            <a:endParaRPr lang="en-US" dirty="0"/>
          </a:p>
          <a:p>
            <a:pPr fontAlgn="t" latinLnBrk="1"/>
            <a:endParaRPr lang="en-US" dirty="0"/>
          </a:p>
          <a:p>
            <a:pPr fontAlgn="t" latinLnBrk="1"/>
            <a:endParaRPr lang="en-US" dirty="0"/>
          </a:p>
          <a:p>
            <a:pPr fontAlgn="ctr" latinLnBrk="1"/>
            <a:endParaRPr lang="en-US" dirty="0"/>
          </a:p>
          <a:p>
            <a:pPr fontAlgn="t" latinLnBrk="1"/>
            <a:endParaRPr lang="en-US" dirty="0"/>
          </a:p>
          <a:p>
            <a:pPr fontAlgn="t" latinLnBrk="1"/>
            <a:endParaRPr lang="en-US" dirty="0"/>
          </a:p>
          <a:p>
            <a:pPr fontAlgn="ctr" latinLnBrk="1"/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57224" y="3777106"/>
            <a:ext cx="10772775" cy="1228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Weaknesses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6274" y="4769903"/>
            <a:ext cx="10753725" cy="1687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/>
              <a:t> Doesn’t detect many bugs (as with most of the other tools) since it has less information to use.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 Customization requires good deal of effort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 Issues detected are shallower than those detected by other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75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1762125" y="2600324"/>
            <a:ext cx="8134350" cy="170497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94242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70821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2989</TotalTime>
  <Words>821</Words>
  <Application>Microsoft Office PowerPoint</Application>
  <PresentationFormat>Widescreen</PresentationFormat>
  <Paragraphs>184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Times New Roman</vt:lpstr>
      <vt:lpstr>Metropolitan</vt:lpstr>
      <vt:lpstr>Static Code Analysis Tool - Cppcheck</vt:lpstr>
      <vt:lpstr>Agenda</vt:lpstr>
      <vt:lpstr>Static Code Analysis</vt:lpstr>
      <vt:lpstr>Cppcheck Introduction</vt:lpstr>
      <vt:lpstr>CppCheck Features</vt:lpstr>
      <vt:lpstr>Important issues</vt:lpstr>
      <vt:lpstr>Programs</vt:lpstr>
      <vt:lpstr>Memory Leak</vt:lpstr>
      <vt:lpstr>Buffer overflow</vt:lpstr>
      <vt:lpstr>PowerPoint Presentation</vt:lpstr>
      <vt:lpstr>Other errors</vt:lpstr>
      <vt:lpstr>Other errors</vt:lpstr>
      <vt:lpstr>Open source projects</vt:lpstr>
      <vt:lpstr>Cppcheck – How it works</vt:lpstr>
      <vt:lpstr>Strengths</vt:lpstr>
      <vt:lpstr>Q&amp;A</vt:lpstr>
      <vt:lpstr>PowerPoint Presentation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Case Purification for Improving Fault Localization</dc:title>
  <dc:creator>Gujral, Nishit</dc:creator>
  <cp:keywords>CTPClassification=CTP_NWR:VisualMarkings=</cp:keywords>
  <cp:lastModifiedBy>Vimmi Taneja</cp:lastModifiedBy>
  <cp:revision>165</cp:revision>
  <dcterms:created xsi:type="dcterms:W3CDTF">2016-10-06T05:42:22Z</dcterms:created>
  <dcterms:modified xsi:type="dcterms:W3CDTF">2016-12-02T01:59:13Z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711c2bda-0ef2-49cf-9620-c25fb353d551</vt:lpwstr>
  </property>
  <property fmtid="{D5CDD505-2E9C-101B-9397-08002B2CF9AE}" pid="3" name="CTP_TimeStamp">
    <vt:lpwstr>2016-10-06 22:26:19Z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CTP_NWR</vt:lpwstr>
  </property>
</Properties>
</file>